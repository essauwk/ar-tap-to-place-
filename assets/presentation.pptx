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sldIdLst>
    <p:sldId id="334" r:id="rId2"/>
    <p:sldId id="343" r:id="rId3"/>
    <p:sldId id="344" r:id="rId4"/>
    <p:sldId id="345" r:id="rId5"/>
    <p:sldId id="346" r:id="rId6"/>
    <p:sldId id="33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85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94664" autoAdjust="0"/>
  </p:normalViewPr>
  <p:slideViewPr>
    <p:cSldViewPr snapToGrid="0">
      <p:cViewPr>
        <p:scale>
          <a:sx n="75" d="100"/>
          <a:sy n="75" d="100"/>
        </p:scale>
        <p:origin x="-1622" y="-418"/>
      </p:cViewPr>
      <p:guideLst>
        <p:guide orient="horz" pos="2160"/>
        <p:guide pos="2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33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51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679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42875" y="152400"/>
            <a:ext cx="8868966" cy="6477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0782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320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4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 w 12192000"/>
              <a:gd name="connsiteY1" fmla="*/ 0 h 6858000"/>
              <a:gd name="connsiteX2" fmla="*/ 12192000 w 12192000"/>
              <a:gd name="connsiteY2" fmla="*/ 3695698 h 6858000"/>
              <a:gd name="connsiteX3" fmla="*/ 121920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" y="0"/>
                </a:lnTo>
                <a:lnTo>
                  <a:pt x="12192000" y="3695698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3649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7695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8526301" y="239436"/>
            <a:ext cx="46648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1350" b="1" i="0" smtClean="0">
                <a:solidFill>
                  <a:schemeClr val="tx1">
                    <a:lumMod val="95000"/>
                    <a:lumOff val="5000"/>
                  </a:schemeClr>
                </a:solidFill>
                <a:latin typeface="Lato Heavy" panose="020F0902020204030203" pitchFamily="34" charset="0"/>
                <a:ea typeface="Roboto Condensed Light" panose="02000000000000000000" pitchFamily="2" charset="0"/>
                <a:cs typeface="Lato Heavy" panose="020F0902020204030203" pitchFamily="34" charset="0"/>
              </a:rPr>
              <a:pPr algn="ctr"/>
              <a:t>‹#›</a:t>
            </a:fld>
            <a:endParaRPr lang="id-ID" sz="1350" b="1" i="0" dirty="0">
              <a:solidFill>
                <a:schemeClr val="tx1">
                  <a:lumMod val="95000"/>
                  <a:lumOff val="5000"/>
                </a:schemeClr>
              </a:solidFill>
              <a:latin typeface="Lato Heavy" panose="020F0902020204030203" pitchFamily="34" charset="0"/>
              <a:ea typeface="Roboto Condensed Light" panose="02000000000000000000" pitchFamily="2" charset="0"/>
              <a:cs typeface="Lato Heavy" panose="020F0902020204030203" pitchFamily="34" charset="0"/>
            </a:endParaRPr>
          </a:p>
        </p:txBody>
      </p:sp>
      <p:sp>
        <p:nvSpPr>
          <p:cNvPr id="8" name="Half Frame 7"/>
          <p:cNvSpPr/>
          <p:nvPr userDrawn="1"/>
        </p:nvSpPr>
        <p:spPr>
          <a:xfrm flipH="1">
            <a:off x="8544836" y="106797"/>
            <a:ext cx="516179" cy="634610"/>
          </a:xfrm>
          <a:prstGeom prst="halfFrame">
            <a:avLst>
              <a:gd name="adj1" fmla="val 12280"/>
              <a:gd name="adj2" fmla="val 1228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9" name="Half Frame 8"/>
          <p:cNvSpPr/>
          <p:nvPr userDrawn="1"/>
        </p:nvSpPr>
        <p:spPr>
          <a:xfrm flipV="1">
            <a:off x="105172" y="6103941"/>
            <a:ext cx="516179" cy="634610"/>
          </a:xfrm>
          <a:prstGeom prst="halfFrame">
            <a:avLst>
              <a:gd name="adj1" fmla="val 12280"/>
              <a:gd name="adj2" fmla="val 1228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661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7" r:id="rId2"/>
    <p:sldLayoutId id="2147483828" r:id="rId3"/>
    <p:sldLayoutId id="2147483653" r:id="rId4"/>
    <p:sldLayoutId id="2147483668" r:id="rId5"/>
    <p:sldLayoutId id="2147483678" r:id="rId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</p:bld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501464" y="2793410"/>
            <a:ext cx="4786076" cy="1384705"/>
            <a:chOff x="3335285" y="2581543"/>
            <a:chExt cx="6381435" cy="1846271"/>
          </a:xfrm>
        </p:grpSpPr>
        <p:sp>
          <p:nvSpPr>
            <p:cNvPr id="3" name="Rectangle 2"/>
            <p:cNvSpPr/>
            <p:nvPr/>
          </p:nvSpPr>
          <p:spPr>
            <a:xfrm>
              <a:off x="3335285" y="2581543"/>
              <a:ext cx="6228662" cy="13542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6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OLFACTORY</a:t>
              </a:r>
              <a:endParaRPr lang="id-ID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" name="Half Frame 3"/>
            <p:cNvSpPr/>
            <p:nvPr/>
          </p:nvSpPr>
          <p:spPr>
            <a:xfrm flipH="1">
              <a:off x="9028481" y="2581543"/>
              <a:ext cx="688239" cy="634610"/>
            </a:xfrm>
            <a:prstGeom prst="halfFrame">
              <a:avLst>
                <a:gd name="adj1" fmla="val 12280"/>
                <a:gd name="adj2" fmla="val 1228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0">
                <a:solidFill>
                  <a:schemeClr val="tx1"/>
                </a:solidFill>
              </a:endParaRPr>
            </a:p>
          </p:txBody>
        </p:sp>
        <p:sp>
          <p:nvSpPr>
            <p:cNvPr id="6" name="Half Frame 5"/>
            <p:cNvSpPr/>
            <p:nvPr/>
          </p:nvSpPr>
          <p:spPr>
            <a:xfrm flipV="1">
              <a:off x="3335285" y="3480118"/>
              <a:ext cx="688239" cy="634610"/>
            </a:xfrm>
            <a:prstGeom prst="halfFrame">
              <a:avLst>
                <a:gd name="adj1" fmla="val 12280"/>
                <a:gd name="adj2" fmla="val 1228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0">
                <a:solidFill>
                  <a:schemeClr val="tx1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605713" y="3689151"/>
              <a:ext cx="4766888" cy="738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spc="225" dirty="0" smtClean="0">
                  <a:solidFill>
                    <a:schemeClr val="bg1">
                      <a:lumMod val="75000"/>
                    </a:schemeClr>
                  </a:solidFill>
                  <a:latin typeface="Lato" panose="020F0502020204030203" pitchFamily="34" charset="0"/>
                  <a:cs typeface="Lato" panose="020F0502020204030203" pitchFamily="34" charset="0"/>
                </a:rPr>
                <a:t>MAHMOUD ELSAED SERAG</a:t>
              </a:r>
            </a:p>
            <a:p>
              <a:r>
                <a:rPr lang="en-US" sz="1500" spc="225" dirty="0" smtClean="0">
                  <a:solidFill>
                    <a:schemeClr val="bg1">
                      <a:lumMod val="75000"/>
                    </a:schemeClr>
                  </a:solidFill>
                  <a:latin typeface="Lato" panose="020F0502020204030203" pitchFamily="34" charset="0"/>
                  <a:cs typeface="Lato" panose="020F0502020204030203" pitchFamily="34" charset="0"/>
                </a:rPr>
                <a:t>202201762</a:t>
              </a:r>
              <a:endParaRPr lang="en-US" sz="1500" spc="225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1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عنصر نائب للصورة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" t="147" r="203" b="79"/>
          <a:stretch/>
        </p:blipFill>
        <p:spPr>
          <a:xfrm>
            <a:off x="3830320" y="1296988"/>
            <a:ext cx="5019039" cy="4494212"/>
          </a:xfrm>
          <a:prstGeom prst="rect">
            <a:avLst/>
          </a:prstGeom>
        </p:spPr>
      </p:pic>
      <p:sp>
        <p:nvSpPr>
          <p:cNvPr id="5" name="مستطيل 4"/>
          <p:cNvSpPr/>
          <p:nvPr/>
        </p:nvSpPr>
        <p:spPr>
          <a:xfrm>
            <a:off x="541481" y="2035292"/>
            <a:ext cx="16001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The olfactory nerve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مستطيل 8"/>
          <p:cNvSpPr/>
          <p:nvPr/>
        </p:nvSpPr>
        <p:spPr>
          <a:xfrm>
            <a:off x="373759" y="2574598"/>
            <a:ext cx="38404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The olfactory nerve (CN I) is the first and shortest cranial nerve. It is a special visceral afferent nerve, which transmits information relating to 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smell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Embryologicallly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, the olfactory nerve is derived from the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 olfactory </a:t>
            </a:r>
            <a:r>
              <a:rPr lang="en-US" sz="1200" b="1" dirty="0" err="1">
                <a:latin typeface="Times New Roman" pitchFamily="18" charset="0"/>
                <a:cs typeface="Times New Roman" pitchFamily="18" charset="0"/>
              </a:rPr>
              <a:t>placode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(a thickening of the ectoderm layer), which also give rise to the glial cells which support the nerve.</a:t>
            </a: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In this article, we shall look at the anatomy of the 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olfactory nerve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 – its structure, anatomical course and clinical relevance.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 4"/>
          <p:cNvSpPr/>
          <p:nvPr/>
        </p:nvSpPr>
        <p:spPr>
          <a:xfrm>
            <a:off x="508620" y="2035292"/>
            <a:ext cx="16658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Anatomical Course</a:t>
            </a:r>
            <a:endParaRPr lang="id-ID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مستطيل 8"/>
          <p:cNvSpPr/>
          <p:nvPr/>
        </p:nvSpPr>
        <p:spPr>
          <a:xfrm>
            <a:off x="373759" y="2574598"/>
            <a:ext cx="384048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The anatomical course of the 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olfactory nerve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 describes the transmission of special sensory information from the nasal epithelium to the primary olfactory cortex of the brain.</a:t>
            </a:r>
          </a:p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Nasal Epithelium</a:t>
            </a:r>
          </a:p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The sense of smell is detected by olfactory receptors located within the 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nasal epithelium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. Their axons (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fila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olfactoria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) assemble into small bundles of true olfactory nerves, which penetrate the small foramina in the cribriform plate of the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ethmoid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bone and enter the cranial cavity.</a:t>
            </a:r>
          </a:p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Olfactory Bulb</a:t>
            </a:r>
          </a:p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Once in the cranial cavity, the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fibres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enter the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 olfactory bulb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which lies in the olfactory groove within the anterior cranial fossa.</a:t>
            </a:r>
          </a:p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The olfactory bulb is an ovoid structure which contains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specialised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neurones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, called 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mitral cells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. The olfactory nerve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fibres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synapse with the mitral cells, forming collections known as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 synaptic glomeruli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. From the glomeruli, second order nerves then pass posteriorly into the olfactory tract.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عنصر نائب للصورة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"/>
          <a:stretch/>
        </p:blipFill>
        <p:spPr>
          <a:xfrm>
            <a:off x="4304713" y="0"/>
            <a:ext cx="4839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07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 4"/>
          <p:cNvSpPr/>
          <p:nvPr/>
        </p:nvSpPr>
        <p:spPr>
          <a:xfrm>
            <a:off x="579152" y="1935495"/>
            <a:ext cx="15247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Sensory Function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مستطيل 8"/>
          <p:cNvSpPr/>
          <p:nvPr/>
        </p:nvSpPr>
        <p:spPr>
          <a:xfrm>
            <a:off x="373759" y="2462838"/>
            <a:ext cx="384048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The sensory function of the olfactory nerve is achieved via the 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olfactory mucosa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.  This mucosal layer not only senses smell, but it also detects the more advanced aspects of taste.</a:t>
            </a:r>
          </a:p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It is located in the roof of the nasal cavity and is composed of </a:t>
            </a:r>
            <a:r>
              <a:rPr lang="en-US" sz="1200" b="1" dirty="0" err="1">
                <a:latin typeface="Times New Roman" pitchFamily="18" charset="0"/>
                <a:cs typeface="Times New Roman" pitchFamily="18" charset="0"/>
              </a:rPr>
              <a:t>pseudostratified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 columnar 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epithelium which contains a number of cells:</a:t>
            </a:r>
          </a:p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Basal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cells 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– form the new stem cells from which the new olfactory cells can develop.</a:t>
            </a:r>
          </a:p>
          <a:p>
            <a:pPr algn="ctr"/>
            <a:r>
              <a:rPr lang="en-US" sz="1200" b="1" dirty="0" err="1">
                <a:latin typeface="Times New Roman" pitchFamily="18" charset="0"/>
                <a:cs typeface="Times New Roman" pitchFamily="18" charset="0"/>
              </a:rPr>
              <a:t>Sustentacular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cells 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– tall cells for structural support. These are analogous to the glial cells located in the CNS.</a:t>
            </a:r>
          </a:p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Olfactory receptor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cells 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– bipolar neurons which consist of two processes:</a:t>
            </a:r>
          </a:p>
          <a:p>
            <a:pPr lvl="1"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Dendritic process projects to the surface of the epithelium, where they project a number of short cilia, the olfactory hairs, into the mucous membrane. These cilia react to odors in the air and stimulate the olfactory cells.</a:t>
            </a:r>
          </a:p>
          <a:p>
            <a:pPr lvl="1"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Central process (also known as the axon) projects in the opposite direction through the basement membrane.</a:t>
            </a:r>
          </a:p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In addition to the epithelium, there are 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Bowman’s glands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 present in the mucosa, which secrete mucus.</a:t>
            </a:r>
          </a:p>
          <a:p>
            <a:pPr algn="ctr"/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عنصر نائب للصورة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713" y="1158240"/>
            <a:ext cx="4839287" cy="531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405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501464" y="2793410"/>
            <a:ext cx="5931336" cy="1384705"/>
            <a:chOff x="3335285" y="2581543"/>
            <a:chExt cx="7908450" cy="1846271"/>
          </a:xfrm>
        </p:grpSpPr>
        <p:sp>
          <p:nvSpPr>
            <p:cNvPr id="3" name="Rectangle 2"/>
            <p:cNvSpPr/>
            <p:nvPr/>
          </p:nvSpPr>
          <p:spPr>
            <a:xfrm>
              <a:off x="3335285" y="2581543"/>
              <a:ext cx="6228662" cy="13542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6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reference</a:t>
              </a:r>
              <a:endParaRPr lang="id-ID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35285" y="3689151"/>
              <a:ext cx="7908450" cy="738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spc="225" dirty="0">
                  <a:solidFill>
                    <a:schemeClr val="bg1">
                      <a:lumMod val="75000"/>
                    </a:schemeClr>
                  </a:solidFill>
                  <a:latin typeface="Lato" panose="020F0502020204030203" pitchFamily="34" charset="0"/>
                  <a:cs typeface="Lato" panose="020F0502020204030203" pitchFamily="34" charset="0"/>
                </a:rPr>
                <a:t>https://teachmeanatomy.info/head/cranial-nerves/olfactory-cni/</a:t>
              </a:r>
              <a:endParaRPr lang="en-US" sz="1500" spc="225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913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2875" y="153950"/>
            <a:ext cx="8868966" cy="6492950"/>
          </a:xfrm>
          <a:prstGeom prst="rect">
            <a:avLst/>
          </a:prstGeom>
          <a:solidFill>
            <a:schemeClr val="tx1">
              <a:lumMod val="95000"/>
              <a:lumOff val="5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5" name="TextBox 4"/>
          <p:cNvSpPr txBox="1"/>
          <p:nvPr/>
        </p:nvSpPr>
        <p:spPr>
          <a:xfrm>
            <a:off x="993282" y="3277724"/>
            <a:ext cx="71574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225" dirty="0" smtClean="0">
                <a:solidFill>
                  <a:schemeClr val="bg1"/>
                </a:solidFill>
                <a:latin typeface="Lato Heavy" panose="020F0902020204030203" pitchFamily="34" charset="0"/>
                <a:cs typeface="Lato Heavy" panose="020F0902020204030203" pitchFamily="34" charset="0"/>
              </a:rPr>
              <a:t>THANK YOU</a:t>
            </a:r>
            <a:endParaRPr lang="id-ID" sz="3000" spc="225" dirty="0">
              <a:solidFill>
                <a:schemeClr val="bg1"/>
              </a:solidFill>
              <a:latin typeface="Lato Heavy" panose="020F0902020204030203" pitchFamily="34" charset="0"/>
              <a:cs typeface="Lato Heavy" panose="020F0902020204030203" pitchFamily="34" charset="0"/>
            </a:endParaRPr>
          </a:p>
        </p:txBody>
      </p:sp>
      <p:sp>
        <p:nvSpPr>
          <p:cNvPr id="6" name="AutoShape 81"/>
          <p:cNvSpPr>
            <a:spLocks/>
          </p:cNvSpPr>
          <p:nvPr/>
        </p:nvSpPr>
        <p:spPr bwMode="auto">
          <a:xfrm>
            <a:off x="4249435" y="2538944"/>
            <a:ext cx="645128" cy="64512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235" y="9811"/>
                </a:moveTo>
                <a:cubicBezTo>
                  <a:pt x="20220" y="10144"/>
                  <a:pt x="20081" y="10800"/>
                  <a:pt x="18899" y="10800"/>
                </a:cubicBezTo>
                <a:lnTo>
                  <a:pt x="17549" y="10800"/>
                </a:lnTo>
                <a:cubicBezTo>
                  <a:pt x="17363" y="10800"/>
                  <a:pt x="17212" y="10950"/>
                  <a:pt x="17212" y="11137"/>
                </a:cubicBezTo>
                <a:cubicBezTo>
                  <a:pt x="17212" y="11324"/>
                  <a:pt x="17363" y="11475"/>
                  <a:pt x="17549" y="11475"/>
                </a:cubicBezTo>
                <a:lnTo>
                  <a:pt x="18858" y="11475"/>
                </a:lnTo>
                <a:cubicBezTo>
                  <a:pt x="19870" y="11475"/>
                  <a:pt x="20003" y="12314"/>
                  <a:pt x="19938" y="12719"/>
                </a:cubicBezTo>
                <a:cubicBezTo>
                  <a:pt x="19855" y="13223"/>
                  <a:pt x="19618" y="14175"/>
                  <a:pt x="18478" y="14175"/>
                </a:cubicBezTo>
                <a:lnTo>
                  <a:pt x="16874" y="14175"/>
                </a:lnTo>
                <a:cubicBezTo>
                  <a:pt x="16688" y="14175"/>
                  <a:pt x="16537" y="14325"/>
                  <a:pt x="16537" y="14512"/>
                </a:cubicBezTo>
                <a:cubicBezTo>
                  <a:pt x="16537" y="14699"/>
                  <a:pt x="16688" y="14850"/>
                  <a:pt x="16874" y="14850"/>
                </a:cubicBezTo>
                <a:lnTo>
                  <a:pt x="18203" y="14850"/>
                </a:lnTo>
                <a:cubicBezTo>
                  <a:pt x="19343" y="14850"/>
                  <a:pt x="19243" y="15718"/>
                  <a:pt x="19079" y="16237"/>
                </a:cubicBezTo>
                <a:cubicBezTo>
                  <a:pt x="18864" y="16918"/>
                  <a:pt x="18732" y="17549"/>
                  <a:pt x="17297" y="17549"/>
                </a:cubicBezTo>
                <a:lnTo>
                  <a:pt x="16196" y="17549"/>
                </a:lnTo>
                <a:cubicBezTo>
                  <a:pt x="16009" y="17549"/>
                  <a:pt x="15859" y="17700"/>
                  <a:pt x="15859" y="17887"/>
                </a:cubicBezTo>
                <a:cubicBezTo>
                  <a:pt x="15859" y="18073"/>
                  <a:pt x="16009" y="18225"/>
                  <a:pt x="16196" y="18225"/>
                </a:cubicBezTo>
                <a:lnTo>
                  <a:pt x="17255" y="18225"/>
                </a:lnTo>
                <a:cubicBezTo>
                  <a:pt x="17993" y="18225"/>
                  <a:pt x="18027" y="18923"/>
                  <a:pt x="17950" y="19174"/>
                </a:cubicBezTo>
                <a:cubicBezTo>
                  <a:pt x="17866" y="19448"/>
                  <a:pt x="17767" y="19651"/>
                  <a:pt x="17762" y="19660"/>
                </a:cubicBezTo>
                <a:cubicBezTo>
                  <a:pt x="17558" y="20028"/>
                  <a:pt x="17229" y="20249"/>
                  <a:pt x="16534" y="20249"/>
                </a:cubicBezTo>
                <a:lnTo>
                  <a:pt x="12844" y="20249"/>
                </a:lnTo>
                <a:cubicBezTo>
                  <a:pt x="10990" y="20249"/>
                  <a:pt x="9151" y="19829"/>
                  <a:pt x="9104" y="19818"/>
                </a:cubicBezTo>
                <a:cubicBezTo>
                  <a:pt x="6299" y="19172"/>
                  <a:pt x="6152" y="19122"/>
                  <a:pt x="5976" y="19072"/>
                </a:cubicBezTo>
                <a:cubicBezTo>
                  <a:pt x="5976" y="19072"/>
                  <a:pt x="5405" y="18976"/>
                  <a:pt x="5405" y="18478"/>
                </a:cubicBezTo>
                <a:lnTo>
                  <a:pt x="5399" y="9155"/>
                </a:lnTo>
                <a:cubicBezTo>
                  <a:pt x="5399" y="8839"/>
                  <a:pt x="5601" y="8552"/>
                  <a:pt x="5935" y="8452"/>
                </a:cubicBezTo>
                <a:cubicBezTo>
                  <a:pt x="5977" y="8435"/>
                  <a:pt x="6034" y="8419"/>
                  <a:pt x="6074" y="8401"/>
                </a:cubicBezTo>
                <a:cubicBezTo>
                  <a:pt x="9158" y="7125"/>
                  <a:pt x="10097" y="4324"/>
                  <a:pt x="10124" y="2025"/>
                </a:cubicBezTo>
                <a:cubicBezTo>
                  <a:pt x="10128" y="1702"/>
                  <a:pt x="10378" y="1350"/>
                  <a:pt x="10800" y="1350"/>
                </a:cubicBezTo>
                <a:cubicBezTo>
                  <a:pt x="11514" y="1350"/>
                  <a:pt x="12774" y="2782"/>
                  <a:pt x="12774" y="4554"/>
                </a:cubicBezTo>
                <a:cubicBezTo>
                  <a:pt x="12774" y="6155"/>
                  <a:pt x="12711" y="6432"/>
                  <a:pt x="12149" y="8100"/>
                </a:cubicBezTo>
                <a:cubicBezTo>
                  <a:pt x="18899" y="8100"/>
                  <a:pt x="18852" y="8196"/>
                  <a:pt x="19448" y="8353"/>
                </a:cubicBezTo>
                <a:cubicBezTo>
                  <a:pt x="20187" y="8564"/>
                  <a:pt x="20249" y="9175"/>
                  <a:pt x="20249" y="9386"/>
                </a:cubicBezTo>
                <a:cubicBezTo>
                  <a:pt x="20249" y="9618"/>
                  <a:pt x="20243" y="9584"/>
                  <a:pt x="20235" y="9811"/>
                </a:cubicBezTo>
                <a:moveTo>
                  <a:pt x="4724" y="19575"/>
                </a:moveTo>
                <a:cubicBezTo>
                  <a:pt x="4724" y="19948"/>
                  <a:pt x="4423" y="20249"/>
                  <a:pt x="4049" y="20249"/>
                </a:cubicBezTo>
                <a:lnTo>
                  <a:pt x="2024" y="20249"/>
                </a:lnTo>
                <a:cubicBezTo>
                  <a:pt x="1652" y="20249"/>
                  <a:pt x="1349" y="19948"/>
                  <a:pt x="1349" y="19575"/>
                </a:cubicBezTo>
                <a:lnTo>
                  <a:pt x="1349" y="8774"/>
                </a:lnTo>
                <a:cubicBezTo>
                  <a:pt x="1349" y="8401"/>
                  <a:pt x="1652" y="8100"/>
                  <a:pt x="2024" y="8100"/>
                </a:cubicBezTo>
                <a:lnTo>
                  <a:pt x="4049" y="8100"/>
                </a:lnTo>
                <a:cubicBezTo>
                  <a:pt x="4423" y="8100"/>
                  <a:pt x="4724" y="8401"/>
                  <a:pt x="4724" y="8774"/>
                </a:cubicBezTo>
                <a:cubicBezTo>
                  <a:pt x="4724" y="8774"/>
                  <a:pt x="4724" y="19575"/>
                  <a:pt x="4724" y="19575"/>
                </a:cubicBezTo>
                <a:close/>
                <a:moveTo>
                  <a:pt x="19686" y="7069"/>
                </a:moveTo>
                <a:cubicBezTo>
                  <a:pt x="18842" y="6846"/>
                  <a:pt x="16858" y="6849"/>
                  <a:pt x="13956" y="6773"/>
                </a:cubicBezTo>
                <a:cubicBezTo>
                  <a:pt x="14093" y="6139"/>
                  <a:pt x="14124" y="5568"/>
                  <a:pt x="14124" y="4554"/>
                </a:cubicBezTo>
                <a:cubicBezTo>
                  <a:pt x="14124" y="2133"/>
                  <a:pt x="12361" y="0"/>
                  <a:pt x="10800" y="0"/>
                </a:cubicBezTo>
                <a:cubicBezTo>
                  <a:pt x="9698" y="0"/>
                  <a:pt x="8789" y="901"/>
                  <a:pt x="8774" y="2009"/>
                </a:cubicBezTo>
                <a:cubicBezTo>
                  <a:pt x="8760" y="3368"/>
                  <a:pt x="8340" y="5716"/>
                  <a:pt x="6074" y="6906"/>
                </a:cubicBezTo>
                <a:cubicBezTo>
                  <a:pt x="5908" y="6994"/>
                  <a:pt x="5433" y="7228"/>
                  <a:pt x="5364" y="7259"/>
                </a:cubicBezTo>
                <a:lnTo>
                  <a:pt x="5399" y="7289"/>
                </a:lnTo>
                <a:cubicBezTo>
                  <a:pt x="5045" y="6984"/>
                  <a:pt x="4554" y="6750"/>
                  <a:pt x="4049" y="6750"/>
                </a:cubicBezTo>
                <a:lnTo>
                  <a:pt x="2024" y="6750"/>
                </a:lnTo>
                <a:cubicBezTo>
                  <a:pt x="908" y="6750"/>
                  <a:pt x="0" y="7658"/>
                  <a:pt x="0" y="8774"/>
                </a:cubicBezTo>
                <a:lnTo>
                  <a:pt x="0" y="19575"/>
                </a:lnTo>
                <a:cubicBezTo>
                  <a:pt x="0" y="20691"/>
                  <a:pt x="908" y="21599"/>
                  <a:pt x="2024" y="21599"/>
                </a:cubicBezTo>
                <a:lnTo>
                  <a:pt x="4049" y="21599"/>
                </a:lnTo>
                <a:cubicBezTo>
                  <a:pt x="4853" y="21599"/>
                  <a:pt x="5525" y="21114"/>
                  <a:pt x="5850" y="20434"/>
                </a:cubicBezTo>
                <a:cubicBezTo>
                  <a:pt x="5859" y="20437"/>
                  <a:pt x="5873" y="20441"/>
                  <a:pt x="5882" y="20442"/>
                </a:cubicBezTo>
                <a:cubicBezTo>
                  <a:pt x="5927" y="20454"/>
                  <a:pt x="5979" y="20467"/>
                  <a:pt x="6044" y="20485"/>
                </a:cubicBezTo>
                <a:cubicBezTo>
                  <a:pt x="6056" y="20487"/>
                  <a:pt x="6062" y="20488"/>
                  <a:pt x="6074" y="20492"/>
                </a:cubicBezTo>
                <a:cubicBezTo>
                  <a:pt x="6464" y="20588"/>
                  <a:pt x="7212" y="20768"/>
                  <a:pt x="8812" y="21135"/>
                </a:cubicBezTo>
                <a:cubicBezTo>
                  <a:pt x="9155" y="21213"/>
                  <a:pt x="10966" y="21599"/>
                  <a:pt x="12844" y="21599"/>
                </a:cubicBezTo>
                <a:lnTo>
                  <a:pt x="16534" y="21599"/>
                </a:lnTo>
                <a:cubicBezTo>
                  <a:pt x="17659" y="21599"/>
                  <a:pt x="18469" y="21167"/>
                  <a:pt x="18952" y="20298"/>
                </a:cubicBezTo>
                <a:cubicBezTo>
                  <a:pt x="18958" y="20285"/>
                  <a:pt x="19114" y="19982"/>
                  <a:pt x="19240" y="19572"/>
                </a:cubicBezTo>
                <a:cubicBezTo>
                  <a:pt x="19336" y="19263"/>
                  <a:pt x="19371" y="18827"/>
                  <a:pt x="19256" y="18384"/>
                </a:cubicBezTo>
                <a:cubicBezTo>
                  <a:pt x="19981" y="17886"/>
                  <a:pt x="20214" y="17133"/>
                  <a:pt x="20366" y="16643"/>
                </a:cubicBezTo>
                <a:cubicBezTo>
                  <a:pt x="20620" y="15838"/>
                  <a:pt x="20544" y="15235"/>
                  <a:pt x="20367" y="14803"/>
                </a:cubicBezTo>
                <a:cubicBezTo>
                  <a:pt x="20775" y="14418"/>
                  <a:pt x="21122" y="13831"/>
                  <a:pt x="21269" y="12935"/>
                </a:cubicBezTo>
                <a:cubicBezTo>
                  <a:pt x="21361" y="12380"/>
                  <a:pt x="21263" y="11809"/>
                  <a:pt x="21007" y="11334"/>
                </a:cubicBezTo>
                <a:cubicBezTo>
                  <a:pt x="21389" y="10905"/>
                  <a:pt x="21564" y="10365"/>
                  <a:pt x="21583" y="9865"/>
                </a:cubicBezTo>
                <a:lnTo>
                  <a:pt x="21591" y="9724"/>
                </a:lnTo>
                <a:cubicBezTo>
                  <a:pt x="21596" y="9635"/>
                  <a:pt x="21600" y="9581"/>
                  <a:pt x="21600" y="9386"/>
                </a:cubicBezTo>
                <a:cubicBezTo>
                  <a:pt x="21600" y="8533"/>
                  <a:pt x="21010" y="7446"/>
                  <a:pt x="19686" y="7069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14288" tIns="14288" rIns="14288" bIns="14288" anchor="ctr"/>
          <a:lstStyle/>
          <a:p>
            <a:pPr algn="ctr" defTabSz="171446" fontAlgn="base" hangingPunct="0">
              <a:spcBef>
                <a:spcPct val="0"/>
              </a:spcBef>
              <a:spcAft>
                <a:spcPct val="0"/>
              </a:spcAft>
            </a:pPr>
            <a:endParaRPr lang="en-US" sz="1125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11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UBrown">
      <a:dk1>
        <a:sysClr val="windowText" lastClr="000000"/>
      </a:dk1>
      <a:lt1>
        <a:sysClr val="window" lastClr="FFFFFF"/>
      </a:lt1>
      <a:dk2>
        <a:srgbClr val="3D4A65"/>
      </a:dk2>
      <a:lt2>
        <a:srgbClr val="E7E6E6"/>
      </a:lt2>
      <a:accent1>
        <a:srgbClr val="DC8F50"/>
      </a:accent1>
      <a:accent2>
        <a:srgbClr val="B8801A"/>
      </a:accent2>
      <a:accent3>
        <a:srgbClr val="BF671F"/>
      </a:accent3>
      <a:accent4>
        <a:srgbClr val="C27918"/>
      </a:accent4>
      <a:accent5>
        <a:srgbClr val="C9771D"/>
      </a:accent5>
      <a:accent6>
        <a:srgbClr val="C66E2C"/>
      </a:accent6>
      <a:hlink>
        <a:srgbClr val="FCE70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1259</TotalTime>
  <Words>46</Words>
  <Application>Microsoft Office PowerPoint</Application>
  <PresentationFormat>عرض على الشاشة (3:4)‏</PresentationFormat>
  <Paragraphs>26</Paragraphs>
  <Slides>6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6</vt:i4>
      </vt:variant>
    </vt:vector>
  </HeadingPairs>
  <TitlesOfParts>
    <vt:vector size="7" baseType="lpstr"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Fajar Indra</dc:creator>
  <cp:lastModifiedBy>Windows User</cp:lastModifiedBy>
  <cp:revision>163</cp:revision>
  <dcterms:created xsi:type="dcterms:W3CDTF">2016-08-18T01:53:04Z</dcterms:created>
  <dcterms:modified xsi:type="dcterms:W3CDTF">2023-12-21T00:27:56Z</dcterms:modified>
</cp:coreProperties>
</file>